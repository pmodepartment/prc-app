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F2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EPC · PROCUREMENT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WPM Dashboard
</a:t>
            </a:r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Guide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4160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read, navigate and work with the Work Package Management dashboard — tailored to what your role can 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521208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2E2A2B"/>
          </a:solidFill>
          <a:ln w="12700">
            <a:solidFill>
              <a:srgbClr val="454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539496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289304" y="523036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521208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2E2A2B"/>
          </a:solidFill>
          <a:ln w="12700">
            <a:solidFill>
              <a:srgbClr val="454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53949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078224" y="523036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521208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2E2A2B"/>
          </a:solidFill>
          <a:ln w="12700">
            <a:solidFill>
              <a:srgbClr val="4540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92824" y="539496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67144" y="523036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WPM Dashboard?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place to track procurement work packages across every Megawide EPC project — their award status, budgets, schedule and contractors — all live from a shared database.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770632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8" name="Text 6"/>
          <p:cNvSpPr/>
          <p:nvPr/>
        </p:nvSpPr>
        <p:spPr>
          <a:xfrm>
            <a:off x="1088136" y="2642616"/>
            <a:ext cx="1032631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the same live data; no more juggling spreadsheet versions.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685032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" y="3557016"/>
            <a:ext cx="1032631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detail.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Portfolio-wide KPIs and charts, down to individual work-package records.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599432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88136" y="4471416"/>
            <a:ext cx="1032631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and can change depends on your role — covered in this guide.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 &amp; picking where to go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in, then choose your destination. New here? Register first — the PMO / Procurement team approves accounts and sets your role and project access.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724912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8" name="Text 6"/>
          <p:cNvSpPr/>
          <p:nvPr/>
        </p:nvSpPr>
        <p:spPr>
          <a:xfrm>
            <a:off x="1088136" y="2596896"/>
            <a:ext cx="10326319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email &amp; password (reset via “Forgot password”).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474720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" y="3346704"/>
            <a:ext cx="10326319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projects consolidated (admins &amp; specialists see everything).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224528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88136" y="4096512"/>
            <a:ext cx="10326319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project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jump straight into one project's dashboard.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5394960"/>
            <a:ext cx="10637215" cy="658368"/>
          </a:xfrm>
          <a:prstGeom prst="roundRect">
            <a:avLst>
              <a:gd name="adj" fmla="val 13889"/>
            </a:avLst>
          </a:prstGeom>
          <a:solidFill>
            <a:srgbClr val="FDECEA"/>
          </a:solidFill>
          <a:ln w="12700">
            <a:solidFill>
              <a:srgbClr val="F4C7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4984" y="5632704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5" name="Text 13"/>
          <p:cNvSpPr/>
          <p:nvPr/>
        </p:nvSpPr>
        <p:spPr>
          <a:xfrm>
            <a:off x="1380744" y="5431536"/>
            <a:ext cx="9814255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see a project you need? Ask the PMO team to add it to your assignments.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look at the data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any time from the sidebar (the hamburger button opens or collapses it). The top bar carries Refresh, Export PDF, a dark-mode toggle and your profile.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5090008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101600" dist="38100" dir="5400000">
              <a:srgbClr val="9E9E9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3063240"/>
            <a:ext cx="640080" cy="6400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20240" y="3099816"/>
            <a:ext cx="3718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8720" y="4133088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4023360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tabs: Overview · Backlog · Budget · Schedule · Works · WP List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88720" y="4700016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4590288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filter to include or exclude projects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88720" y="5266944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5157216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projects start unselected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24448" y="2697480"/>
            <a:ext cx="5090008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1290320000" dist="483870000" dir="324000000000">
              <a:srgbClr val="9E9E9E">
                <a:alpha val="28000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90208" y="30632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690208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67448" y="3099816"/>
            <a:ext cx="3718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Dashboard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35928" y="4133088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7010248" y="4023360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tabs: Overview · Backlog · WP List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35928" y="4700016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24" name="Text 22"/>
          <p:cNvSpPr/>
          <p:nvPr/>
        </p:nvSpPr>
        <p:spPr>
          <a:xfrm>
            <a:off x="7010248" y="4590288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S-Curve (planned vs actual)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35928" y="5266944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26" name="Text 24"/>
          <p:cNvSpPr/>
          <p:nvPr/>
        </p:nvSpPr>
        <p:spPr>
          <a:xfrm>
            <a:off x="7010248" y="5157216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Status Tracker for editors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DATA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 of the charts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and charts summarise cost and progress at a glance. (Viewers see counts, status &amp; schedule — cost figures are hidden.)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679192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8" name="Text 6"/>
          <p:cNvSpPr/>
          <p:nvPr/>
        </p:nvSpPr>
        <p:spPr>
          <a:xfrm>
            <a:off x="1088136" y="2551176"/>
            <a:ext cx="10326319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Overview KPIs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Budget (BCB), Actual Award, Balance to Award, Savings / Loss.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465576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" y="3337560"/>
            <a:ext cx="10326319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S-Curve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cumulative planned vs actual awarding; the dashed line forecasts the remainder.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251960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88136" y="4123944"/>
            <a:ext cx="10326319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Awarded by Period + status donuts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spend and award progress by month / quarter.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5038344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4" name="Text 12"/>
          <p:cNvSpPr/>
          <p:nvPr/>
        </p:nvSpPr>
        <p:spPr>
          <a:xfrm>
            <a:off x="1088136" y="4910328"/>
            <a:ext cx="10326319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panels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highest value, biggest savings, most overbudget WPs (click to open a WP).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work packages fast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WP List groups records by Project → Trade. Headers are sortable and the list is paginated for speed.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724912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8" name="Text 6"/>
          <p:cNvSpPr/>
          <p:nvPr/>
        </p:nvSpPr>
        <p:spPr>
          <a:xfrm>
            <a:off x="1088136" y="2596896"/>
            <a:ext cx="103263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filters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Trade → Works → Vendor narrow each other; plus Status, OSM and free-text search.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547872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" y="3419856"/>
            <a:ext cx="103263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WP No.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open the slide-in detail panel with every field (and Edit / Delete for editors).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370832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88136" y="4242816"/>
            <a:ext cx="103263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Analysis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period chart + KPIs you can scope to a From / To month range.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roles group into three capability tiers. The next slides cover each in detail.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3240938" cy="3520440"/>
          </a:xfrm>
          <a:prstGeom prst="roundRect">
            <a:avLst>
              <a:gd name="adj" fmla="val 2539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16387064000000" dist="6145149000000" dir="19440000000000000">
              <a:srgbClr val="9E9E9E">
                <a:alpha val="2800000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86229" y="306324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986229" y="3063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4069080"/>
            <a:ext cx="2875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4453128"/>
            <a:ext cx="2875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Admin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892040"/>
            <a:ext cx="2600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access, all projects, all cost data — plus user &amp; project management.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75378" y="2606040"/>
            <a:ext cx="3240938" cy="3520440"/>
          </a:xfrm>
          <a:prstGeom prst="roundRect">
            <a:avLst>
              <a:gd name="adj" fmla="val 2539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208115712800000000" dist="78043392300000000" dir="1.1664e+21">
              <a:srgbClr val="9E9E9E">
                <a:alpha val="280000000000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84368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684368" y="3063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58258" y="4069080"/>
            <a:ext cx="2875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58258" y="4453128"/>
            <a:ext cx="2875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· Manager · User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5418" y="4892040"/>
            <a:ext cx="2600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work packages, CSV import, status tracker. Cost data visible. No admin.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73517" y="2606040"/>
            <a:ext cx="3240938" cy="3520440"/>
          </a:xfrm>
          <a:prstGeom prst="roundRect">
            <a:avLst>
              <a:gd name="adj" fmla="val 2539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2.64306955256e+21" dist="991151082210000000000" dir="6.9984e+25">
              <a:srgbClr val="9E9E9E">
                <a:alpha val="2.8e+2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82506" y="306324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9382506" y="3063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356397" y="4069080"/>
            <a:ext cx="2875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56397" y="4453128"/>
            <a:ext cx="2875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93557" y="4892040"/>
            <a:ext cx="2600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Read-only. Cost, budget &amp; award amounts are hidden.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— the full picture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&amp; Admin. The widest access: the entire portfolio plus the tools to manage people and projects.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679192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088136" y="2551176"/>
            <a:ext cx="477911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project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all cost / budget data.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42900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" y="3300984"/>
            <a:ext cx="477911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work package — saved immediately.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178808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88136" y="4050792"/>
            <a:ext cx="477911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CSV import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de-duplicates by WP No.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24448" y="2679192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635344" y="2551176"/>
            <a:ext cx="477911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approve sign-ups, set roles, assign projects.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24448" y="342900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635344" y="3300984"/>
            <a:ext cx="477911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create, edit, archive projects.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24448" y="4178808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635344" y="4050792"/>
            <a:ext cx="477911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submissions needing sign-off.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5257800"/>
            <a:ext cx="10637215" cy="658368"/>
          </a:xfrm>
          <a:prstGeom prst="roundRect">
            <a:avLst>
              <a:gd name="adj" fmla="val 13889"/>
            </a:avLst>
          </a:prstGeom>
          <a:solidFill>
            <a:srgbClr val="FDECEA"/>
          </a:solidFill>
          <a:ln w="12700">
            <a:solidFill>
              <a:srgbClr val="F4C7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984" y="5495544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1380744" y="5294376"/>
            <a:ext cx="9814255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Super Admin can grant the Super Admin or Specialist roles; Admins manage all other roles.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— doing the work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Specialist, Manager &amp; User — the day-to-day editors. Full cost visibility, no user/project administration. Changes save immediately (auto-approved).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81635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88136" y="2688336"/>
            <a:ext cx="477911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on your projects.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60273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" y="3474720"/>
            <a:ext cx="477911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CSV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re-imports update by WP No. (no duplicates).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81635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635344" y="2688336"/>
            <a:ext cx="477911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Tracker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update Award / Procurement / Delivery inline.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24448" y="360273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635344" y="3474720"/>
            <a:ext cx="477911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 &amp; budget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on all dashboards.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5257800"/>
            <a:ext cx="10637215" cy="658368"/>
          </a:xfrm>
          <a:prstGeom prst="roundRect">
            <a:avLst>
              <a:gd name="adj" fmla="val 13889"/>
            </a:avLst>
          </a:prstGeom>
          <a:solidFill>
            <a:srgbClr val="FDECEA"/>
          </a:solidFill>
          <a:ln w="12700">
            <a:solidFill>
              <a:srgbClr val="F4C7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" y="549554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380744" y="5294376"/>
            <a:ext cx="9814255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can view every project (edit their assigned ones). Managers &amp; Users work within their assigned projects.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 — read-only insight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Viewer. Browse dashboards and work-package details for assigned projects, with financial figures hidden.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679192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88136" y="2551176"/>
            <a:ext cx="1032631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charts and WP detail for your projects.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" y="3209544"/>
            <a:ext cx="1032631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editing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 / Edit / Delete and the WP form are unavailable.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3995928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088136" y="3867912"/>
            <a:ext cx="1032631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hidden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budget, awarded amounts and the Budget / Works tabs are not shown.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4654296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088136" y="4526280"/>
            <a:ext cx="1032631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schedule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 still see counts and progress everywhere else.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5440680"/>
            <a:ext cx="10637215" cy="658368"/>
          </a:xfrm>
          <a:prstGeom prst="roundRect">
            <a:avLst>
              <a:gd name="adj" fmla="val 13889"/>
            </a:avLst>
          </a:prstGeom>
          <a:solidFill>
            <a:srgbClr val="FDECEA"/>
          </a:solidFill>
          <a:ln w="12700">
            <a:solidFill>
              <a:srgbClr val="F4C7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" y="5678424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380744" y="5477256"/>
            <a:ext cx="9814255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edit or see costs? Ask the PMO team to upgrade your role.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EDITORS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&amp; updating work packages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&amp; Contributors keep the data current. Two ways in — the full form or a bulk import.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509000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3.3566983317512e+25" dist="1.2587618744067e+25" dir="4.19904e+30">
              <a:srgbClr val="9E9E9E">
                <a:alpha val="2.8000000000000003e+2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2880360"/>
            <a:ext cx="640080" cy="6400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20240" y="2916936"/>
            <a:ext cx="3718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WP Form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8720" y="3950208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840480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sections: identity, approval, bonds, submittals, schedule, budget, payment, status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88720" y="4517136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4407408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→ Works → Type cascade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88720" y="5084064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4974336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Safeguards: awarded WPs need cost + vendor; no future award dates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24448" y="2514600"/>
            <a:ext cx="509000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4.2630068813240236e+29" dist="1.598627580496509e+29" dir="2.519424e+35">
              <a:srgbClr val="9E9E9E">
                <a:alpha val="2.8000000000000005e+3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90208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690208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67448" y="2916936"/>
            <a:ext cx="3718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35928" y="3950208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7010248" y="3840480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template, fill it in, then import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35928" y="4517136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24" name="Text 22"/>
          <p:cNvSpPr/>
          <p:nvPr/>
        </p:nvSpPr>
        <p:spPr>
          <a:xfrm>
            <a:off x="7010248" y="4407408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De-duplicates by WP No. — existing rows update in place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35928" y="5084064"/>
            <a:ext cx="128016" cy="128016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26" name="Text 24"/>
          <p:cNvSpPr/>
          <p:nvPr/>
        </p:nvSpPr>
        <p:spPr>
          <a:xfrm>
            <a:off x="7010248" y="4974336"/>
            <a:ext cx="4038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batch validated before anything is saved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30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quick status changes, use the Status Tracker on the WP List — no need to open the form.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EDITORS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46304" cy="146304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TO KNOW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getting help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77240" y="1993392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7" name="Text 5"/>
          <p:cNvSpPr/>
          <p:nvPr/>
        </p:nvSpPr>
        <p:spPr>
          <a:xfrm>
            <a:off x="1088136" y="1865376"/>
            <a:ext cx="1032631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latest data without a full reload.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" y="2523744"/>
            <a:ext cx="1032631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toggle in the top bar; your choice is remembered.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310128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1" name="Text 9"/>
          <p:cNvSpPr/>
          <p:nvPr/>
        </p:nvSpPr>
        <p:spPr>
          <a:xfrm>
            <a:off x="1088136" y="3182112"/>
            <a:ext cx="1032631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print-ready table of the current view (editors &amp; admins).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968496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3" name="Text 11"/>
          <p:cNvSpPr/>
          <p:nvPr/>
        </p:nvSpPr>
        <p:spPr>
          <a:xfrm>
            <a:off x="1088136" y="3840480"/>
            <a:ext cx="1032631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install it like an app on your phone.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4626864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5" name="Text 13"/>
          <p:cNvSpPr/>
          <p:nvPr/>
        </p:nvSpPr>
        <p:spPr>
          <a:xfrm>
            <a:off x="1088136" y="4498848"/>
            <a:ext cx="1032631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guide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? button in the top bar reopens the tour any time.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5532120"/>
            <a:ext cx="10637215" cy="658368"/>
          </a:xfrm>
          <a:prstGeom prst="roundRect">
            <a:avLst>
              <a:gd name="adj" fmla="val 13889"/>
            </a:avLst>
          </a:prstGeom>
          <a:solidFill>
            <a:srgbClr val="FDECEA"/>
          </a:solidFill>
          <a:ln w="12700">
            <a:solidFill>
              <a:srgbClr val="F4C7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" y="5769864"/>
            <a:ext cx="182880" cy="182880"/>
          </a:xfrm>
          <a:prstGeom prst="ellipse">
            <a:avLst/>
          </a:prstGeom>
          <a:solidFill>
            <a:srgbClr val="EE3124"/>
          </a:solidFill>
          <a:ln/>
        </p:spPr>
      </p:sp>
      <p:sp>
        <p:nvSpPr>
          <p:cNvPr id="18" name="Text 16"/>
          <p:cNvSpPr/>
          <p:nvPr/>
        </p:nvSpPr>
        <p:spPr>
          <a:xfrm>
            <a:off x="1380744" y="5568696"/>
            <a:ext cx="9814255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access issues? Contact the PMO / Procurement team to update your role or project assignments.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TO KNOW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58565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6855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F2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· PROCUREMENT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7724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MEGAWIDE EPC · PROCUREMENT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
</a:t>
            </a:r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E3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42976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your dashboards, and reopen the in-app guide (the ? button) whenever you need a refresher.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521208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2E2A2B"/>
          </a:solidFill>
          <a:ln w="12700">
            <a:solidFill>
              <a:srgbClr val="454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23036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&amp; explore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521208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2E2A2B"/>
          </a:solidFill>
          <a:ln w="12700">
            <a:solidFill>
              <a:srgbClr val="4540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523036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=  reopen guide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69480" y="521208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2E2A2B"/>
          </a:solidFill>
          <a:ln w="12700">
            <a:solidFill>
              <a:srgbClr val="4540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523036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for access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2026-07-08T02:37:15Z</dcterms:created>
  <dcterms:modified xsi:type="dcterms:W3CDTF">2026-07-08T02:37:15Z</dcterms:modified>
</cp:coreProperties>
</file>